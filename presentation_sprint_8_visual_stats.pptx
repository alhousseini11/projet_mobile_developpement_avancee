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400" b="1">
                <a:solidFill>
                  <a:srgbClr val="1E293B"/>
                </a:solidFill>
              </a:rPr>
              <a:t>Répartition des stories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Stories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Mergées sur main</c:v>
                </c:pt>
                <c:pt idx="1">
                  <c:v>Prêtes à merger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E293B"/>
                </a:solidFill>
              </a:rPr>
              <a:t>Résultat de la suite backend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Backend tests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E293B"/>
                </a:solidFill>
              </a:rPr>
              <a:t>Garde-fous et surfaces couvertes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Prisma checks</c:v>
                </c:pt>
                <c:pt idx="1">
                  <c:v>CI jobs</c:v>
                </c:pt>
                <c:pt idx="2">
                  <c:v>Health checks</c:v>
                </c:pt>
                <c:pt idx="3">
                  <c:v>Envs frontend</c:v>
                </c:pt>
                <c:pt idx="4">
                  <c:v>Auth endpoints protégés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E293B"/>
                </a:solidFill>
              </a:rPr>
              <a:t>Complexité relative par story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Fichiers principaux touchés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Drift DB</c:v>
                </c:pt>
                <c:pt idx="1">
                  <c:v>Docker runtime</c:v>
                </c:pt>
                <c:pt idx="2">
                  <c:v>env.ts prod</c:v>
                </c:pt>
                <c:pt idx="3">
                  <c:v>Frontend env</c:v>
                </c:pt>
                <c:pt idx="4">
                  <c:v>CI</c:v>
                </c:pt>
                <c:pt idx="5">
                  <c:v>Home refactor</c:v>
                </c:pt>
                <c:pt idx="6">
                  <c:v>Tests</c:v>
                </c:pt>
                <c:pt idx="7">
                  <c:v>Observabilité</c:v>
                </c:pt>
                <c:pt idx="8">
                  <c:v>HTTP security</c:v>
                </c:pt>
                <c:pt idx="9">
                  <c:v>Runtime NS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6</c:v>
                </c:pt>
                <c:pt idx="4">
                  <c:v>2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E293B"/>
                </a:solidFill>
              </a:rPr>
              <a:t>Score de risque (5 = critique, 1 = maîtrisé)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Drift Prisma</c:v>
                </c:pt>
                <c:pt idx="1">
                  <c:v>Config prod</c:v>
                </c:pt>
                <c:pt idx="2">
                  <c:v>CI instable</c:v>
                </c:pt>
                <c:pt idx="3">
                  <c:v>Diagnostic backend</c:v>
                </c:pt>
                <c:pt idx="4">
                  <c:v>API mobile ambiguë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Drift Prisma</c:v>
                </c:pt>
                <c:pt idx="1">
                  <c:v>Config prod</c:v>
                </c:pt>
                <c:pt idx="2">
                  <c:v>CI instable</c:v>
                </c:pt>
                <c:pt idx="3">
                  <c:v>Diagnostic backend</c:v>
                </c:pt>
                <c:pt idx="4">
                  <c:v>API mobile ambiguë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E293B"/>
                </a:solidFill>
              </a:rPr>
              <a:t>Répartition lisible des contrôles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Jobs / checks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Backend tests</c:v>
                </c:pt>
                <c:pt idx="1">
                  <c:v>Backend coverage</c:v>
                </c:pt>
                <c:pt idx="2">
                  <c:v>Frontend type-check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solidFill>
                  <a:srgbClr val="1E293B"/>
                </a:solidFill>
              </a:rPr>
              <a:t>Résultat global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Suite backend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E293B"/>
                </a:solidFill>
              </a:rPr>
              <a:t>Garde-fous ajoutés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Présent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Helmet</c:v>
                </c:pt>
                <c:pt idx="1">
                  <c:v>CORS</c:v>
                </c:pt>
                <c:pt idx="2">
                  <c:v>JSON limit</c:v>
                </c:pt>
                <c:pt idx="3">
                  <c:v>Rate limit</c:v>
                </c:pt>
                <c:pt idx="4">
                  <c:v>Public error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E293B"/>
                </a:solidFill>
              </a:rPr>
              <a:t>Trois contextes explicitement supportés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Contextes supportés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Local</c:v>
                </c:pt>
                <c:pt idx="1">
                  <c:v>VPS partagé</c:v>
                </c:pt>
                <c:pt idx="2">
                  <c:v>Prod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991B1B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3063240" cy="59436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37560" y="868680"/>
            <a:ext cx="8183879" cy="544068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"/>
            <a:ext cx="43891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Sprint 8 • Présentation visuelle avec statistiques et schémas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8288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Revue
de sprint
visuelle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34440"/>
            <a:ext cx="722376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Projet_Mobile_developpement_avancee
Production • Qualité • Tests • Observabilité • Frontend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331720"/>
            <a:ext cx="72237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Aptos"/>
              </a:rPr>
              <a:t>Objectif: montrer clairement ce qui a été livré,
ce qui est prêt, et quel risque technique a été réduit.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794760"/>
            <a:ext cx="7223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4023360"/>
            <a:ext cx="2011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Chiffres clés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389120"/>
            <a:ext cx="64922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20" b="0">
                <a:solidFill>
                  <a:srgbClr val="1E293B"/>
                </a:solidFill>
                <a:latin typeface="Aptos"/>
              </a:rPr>
              <a:t>10 stories • 8 mergées • 2 branches prêtes • 72 tests backend • 8 migrations Prisma • 3 environnements mobile</a:t>
            </a:r>
          </a:p>
        </p:txBody>
      </p:sp>
      <p:pic>
        <p:nvPicPr>
          <p:cNvPr id="12" name="Picture 11" descr="Logo-centr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28016"/>
            <a:ext cx="695419" cy="658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Dashboard du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Vue d'ensemble en indicateurs visuels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5603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49047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1">
                <a:solidFill>
                  <a:srgbClr val="475569"/>
                </a:solidFill>
                <a:latin typeface="Aptos"/>
              </a:rPr>
              <a:t>Stories travaillées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21945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DC2626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25880"/>
            <a:ext cx="25603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49047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1">
                <a:solidFill>
                  <a:srgbClr val="475569"/>
                </a:solidFill>
                <a:latin typeface="Aptos"/>
              </a:rPr>
              <a:t>Stories mergées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1764792"/>
            <a:ext cx="21945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5803D"/>
                </a:solidFill>
                <a:latin typeface="Aptos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325880"/>
            <a:ext cx="25603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49047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1">
                <a:solidFill>
                  <a:srgbClr val="475569"/>
                </a:solidFill>
                <a:latin typeface="Aptos"/>
              </a:rPr>
              <a:t>Branches prêtes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764792"/>
            <a:ext cx="21945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B45309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325880"/>
            <a:ext cx="25603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1392" y="149047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1">
                <a:solidFill>
                  <a:srgbClr val="475569"/>
                </a:solidFill>
                <a:latin typeface="Aptos"/>
              </a:rPr>
              <a:t>Tests backend verts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1764792"/>
            <a:ext cx="21945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D4ED8"/>
                </a:solidFill>
                <a:latin typeface="Aptos"/>
              </a:rPr>
              <a:t>72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2514600"/>
            <a:ext cx="25603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0552" y="267919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1">
                <a:solidFill>
                  <a:srgbClr val="475569"/>
                </a:solidFill>
                <a:latin typeface="Aptos"/>
              </a:rPr>
              <a:t>Migrations Prisma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0552" y="2953512"/>
            <a:ext cx="21945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DC2626"/>
                </a:solidFill>
                <a:latin typeface="Aptos"/>
              </a:rPr>
              <a:t>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514600"/>
            <a:ext cx="25603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1" y="2679192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1">
                <a:solidFill>
                  <a:srgbClr val="475569"/>
                </a:solidFill>
                <a:latin typeface="Aptos"/>
              </a:rPr>
              <a:t>Environnements mobile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1" y="2953512"/>
            <a:ext cx="21945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DC2626"/>
                </a:solidFill>
                <a:latin typeface="Aptos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886200"/>
            <a:ext cx="53035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388620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868680" y="4206240"/>
          <a:ext cx="2468880" cy="1508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337560" y="4434840"/>
            <a:ext cx="210312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80% du lot déjà mergé sur main.</a:t>
            </a:r>
          </a:p>
          <a:p>
            <a:pPr>
              <a:buClr/>
              <a:spcAft>
                <a:spcPts val="400"/>
              </a:spcAft>
              <a:defRPr sz="12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20% en branches dédiées prêtes à merger.</a:t>
            </a:r>
          </a:p>
          <a:p>
            <a:pPr>
              <a:buClr/>
              <a:spcAft>
                <a:spcPts val="400"/>
              </a:spcAft>
              <a:defRPr sz="12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sprint est majoritairement intégré.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6446520" y="4251960"/>
          <a:ext cx="4663440" cy="1554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Statistiques consolidées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Volumes et garde-fous activés pendant le sprint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749039"/>
            <a:ext cx="10972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68680" y="1627632"/>
          <a:ext cx="489204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37960" y="1627632"/>
          <a:ext cx="4663440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68680" y="3977639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Lecture des chiffres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15968"/>
            <a:ext cx="987552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4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sprint n'est pas centré sur une seule feature visible, mais sur la fiabilité transverse du système.</a:t>
            </a:r>
          </a:p>
          <a:p>
            <a:pPr>
              <a:buClr/>
              <a:spcAft>
                <a:spcPts val="400"/>
              </a:spcAft>
              <a:defRPr sz="134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La plus forte densité de changement se concentre sur l'environnement, le frontend API, la sécurité HTTP et le runtime mobile.</a:t>
            </a:r>
          </a:p>
          <a:p>
            <a:pPr>
              <a:buClr/>
              <a:spcAft>
                <a:spcPts val="400"/>
              </a:spcAft>
              <a:defRPr sz="134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backend dispose désormais de plusieurs lignes de défense successives: Prisma, env, healthcheck, CI, logs et tests critiques.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5394960"/>
            <a:ext cx="2743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Aptos"/>
              </a:rPr>
              <a:t>Statistiques basées sur données réelles du repo
et sur les fichiers principaux touchés.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Réduction du risque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Évaluation technique avant / après sur une échelle de 1 à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7543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6760" y="1325880"/>
            <a:ext cx="3200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645920"/>
          <a:ext cx="69494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595360" y="160020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À retenir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38528"/>
            <a:ext cx="269748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gain le plus net concerne Prisma et la configuration de prod.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risque de mauvaise cible API côté mobile a été fortement réduit.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La CI et l'observabilité n'éliminent pas tout risque, mais le rendent plus détectable.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800600"/>
            <a:ext cx="2651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Note: ces scores sont une estimation d'impact technique pour la présentation, pas une mesure métier brute.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Schéma d'architecture du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Comment les changements s'articulent de bout en bout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1828800" cy="73152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Frontend mobile</a:t>
            </a:r>
          </a:p>
          <a:p>
            <a:r>
              <a:t>NativeScript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011680"/>
            <a:ext cx="1783080" cy="731520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api.ts</a:t>
            </a:r>
          </a:p>
          <a:p>
            <a:r>
              <a:t>config explicite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011680"/>
            <a:ext cx="182880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HTTP backend</a:t>
            </a:r>
          </a:p>
          <a:p>
            <a:r>
              <a:t>Express + health +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011680"/>
            <a:ext cx="1645920" cy="731520"/>
          </a:xfrm>
          <a:prstGeom prst="round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Services métier</a:t>
            </a:r>
          </a:p>
          <a:p>
            <a:r>
              <a:t>home/auth/profile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011680"/>
            <a:ext cx="1325880" cy="73152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Prisma</a:t>
            </a:r>
          </a:p>
          <a:p>
            <a:r>
              <a:t>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52760" y="2011680"/>
            <a:ext cx="914400" cy="731520"/>
          </a:xfrm>
          <a:prstGeom prst="roundRect">
            <a:avLst/>
          </a:prstGeom>
          <a:solidFill>
            <a:srgbClr val="991B1B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Postgres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2377440"/>
            <a:ext cx="3200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17720" y="2377440"/>
            <a:ext cx="3200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66560" y="2377440"/>
            <a:ext cx="3200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32520" y="2377440"/>
            <a:ext cx="3200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78440" y="2377440"/>
            <a:ext cx="2743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011680" y="3977639"/>
            <a:ext cx="2103120" cy="658368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CI Node 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977639"/>
            <a:ext cx="2148840" cy="658368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prisma validate + migrate +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3977639"/>
            <a:ext cx="1874519" cy="658368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tests + coverage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3977639"/>
            <a:ext cx="1874519" cy="658368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déploiement VPS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4297680"/>
            <a:ext cx="4114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75120" y="4297680"/>
            <a:ext cx="4114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961120" y="4297680"/>
            <a:ext cx="4114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7240" y="5166360"/>
            <a:ext cx="10789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321808"/>
            <a:ext cx="10332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0">
                <a:solidFill>
                  <a:srgbClr val="1E293B"/>
                </a:solidFill>
                <a:latin typeface="Aptos"/>
              </a:rPr>
              <a:t>Le sprint relie désormais explicitement le mobile, le backend HTTP, la couche métier, Prisma et la chaîne CI/déploiement.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Prisma +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Le cœur des garde-fous de cohérence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8404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17720" y="1325880"/>
            <a:ext cx="3108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132588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Chaîne de démarrage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20240"/>
            <a:ext cx="2926080" cy="512064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validateRuntimeEnv()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697480"/>
            <a:ext cx="2926080" cy="512064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assertDatabaseIsReady()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474720"/>
            <a:ext cx="2926080" cy="512064"/>
          </a:xfrm>
          <a:prstGeom prst="round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createHttpApp()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251960"/>
            <a:ext cx="2926080" cy="512064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app.listen()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2432304"/>
            <a:ext cx="0" cy="265176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68880" y="3209544"/>
            <a:ext cx="0" cy="265176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68880" y="3986784"/>
            <a:ext cx="0" cy="265176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46320" y="160020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Contrôles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920240"/>
            <a:ext cx="25603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_prisma_migrations présente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migrations locales appliquées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aucune migration en échec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pas de migration inconnue côté DB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tables/colonnes conformes au schéma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DATABASE_URL et JWT_SECRET obligatoires en prod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60020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Bénéfices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920240"/>
            <a:ext cx="315468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Évite les déploiements silencieusement incohérents.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Donne un message d'erreur immédiatement exploitable.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 permis d'isoler sur VPS une vraie panne config: JWT_SECRET absent.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Fait converger dev, CI et prod autour du même workflow Prisma.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CI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Pipeline simplifié, cohérent et compatible Node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0972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371600" cy="512064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Checkout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130552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23160" y="1874519"/>
            <a:ext cx="1371600" cy="512064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npm ci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94760" y="2130552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23360" y="1874519"/>
            <a:ext cx="1554480" cy="512064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prisma generate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77840" y="2130552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23560" y="1874519"/>
            <a:ext cx="1554480" cy="512064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prisma validate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78040" y="2130552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23760" y="1874519"/>
            <a:ext cx="1554480" cy="512064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migrate deploy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2130552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23960" y="1874519"/>
            <a:ext cx="1554480" cy="512064"/>
          </a:xfrm>
          <a:prstGeom prst="round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prisma check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78440" y="2130552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424160" y="1874519"/>
            <a:ext cx="1554480" cy="512064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tests / coverage / type-check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66160"/>
            <a:ext cx="53492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566160"/>
            <a:ext cx="53492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868680" y="3931920"/>
          <a:ext cx="4754880" cy="1417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92240" y="3977639"/>
            <a:ext cx="45720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Node 20 aligné partout.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CI fidèle au runtime Prisma réel.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Moins de doublons entre jobs.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Coverage backend stabilisé avec c8.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Tests critiques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Couvrir les parcours à risque au lieu de viser un chiffre vide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132588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737360"/>
          <a:ext cx="256032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66160" y="1828800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Parcours couverts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76272"/>
            <a:ext cx="192024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6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auth</a:t>
            </a:r>
          </a:p>
          <a:p>
            <a:pPr>
              <a:buClr/>
              <a:spcAft>
                <a:spcPts val="400"/>
              </a:spcAft>
              <a:defRPr sz="126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home</a:t>
            </a:r>
          </a:p>
          <a:p>
            <a:pPr>
              <a:buClr/>
              <a:spcAft>
                <a:spcPts val="400"/>
              </a:spcAft>
              <a:defRPr sz="126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profile</a:t>
            </a:r>
          </a:p>
          <a:p>
            <a:pPr>
              <a:buClr/>
              <a:spcAft>
                <a:spcPts val="400"/>
              </a:spcAft>
              <a:defRPr sz="126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reservations</a:t>
            </a:r>
          </a:p>
          <a:p>
            <a:pPr>
              <a:buClr/>
              <a:spcAft>
                <a:spcPts val="400"/>
              </a:spcAft>
              <a:defRPr sz="126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password reset</a:t>
            </a:r>
          </a:p>
          <a:p>
            <a:pPr>
              <a:buClr/>
              <a:spcAft>
                <a:spcPts val="400"/>
              </a:spcAft>
              <a:defRPr sz="126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health</a:t>
            </a:r>
          </a:p>
          <a:p>
            <a:pPr>
              <a:buClr/>
              <a:spcAft>
                <a:spcPts val="400"/>
              </a:spcAft>
              <a:defRPr sz="126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guards / erreurs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Exemples de scénarios utiles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38528"/>
            <a:ext cx="480060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Login, refresh et mise à jour de profil via HTTP.</a:t>
            </a:r>
          </a:p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Conflit email -&gt; 409 proprement géré.</a:t>
            </a:r>
          </a:p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health -&gt; 200 avec x-request-id et checks app/db.</a:t>
            </a:r>
          </a:p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home -&gt; réponse valide même sans données ou avec token invalide.</a:t>
            </a:r>
          </a:p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forgot-password -&gt; pas d'énumération de comptes.</a:t>
            </a:r>
          </a:p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reset-password -&gt; code réutilisé refusé.</a:t>
            </a:r>
          </a:p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notifications / tutorials / endpoints protégés -&gt; 401/403 vérifiés.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Refacto du module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Passage d'un flux couplé à un flux testable et injectable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Avant / Après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011680"/>
            <a:ext cx="1325880" cy="5486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HTTP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011680"/>
            <a:ext cx="1325880" cy="5486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Métier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2011680"/>
            <a:ext cx="1325880" cy="54864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Prisma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2286000"/>
            <a:ext cx="2286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40480" y="2286000"/>
            <a:ext cx="2286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2880360"/>
            <a:ext cx="44805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Aptos"/>
              </a:rPr>
              <a:t>Après refacto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337560"/>
            <a:ext cx="1325880" cy="548640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Controller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3337560"/>
            <a:ext cx="1325880" cy="548640"/>
          </a:xfrm>
          <a:prstGeom prst="round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3337560"/>
            <a:ext cx="1325880" cy="54864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Repository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3611880"/>
            <a:ext cx="2286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40480" y="3611880"/>
            <a:ext cx="2286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4389120"/>
            <a:ext cx="43891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Résultat: responsabilités visibles, dépendances injectables, logique métier testée sans Express ni Prisma réel.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0020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Tests spécifiques home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65960"/>
            <a:ext cx="4754880" cy="3383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Feed enrichi à partir des rendez-vous et rappels.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Retour d'un feed par défaut si l'utilisateur n'a pas de données.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Fallback propre et logging si une dépendance plante.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Helpers métiers testés: prénom, format date, reminder message.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Observabilité + healthcheck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Lire le backend sans stack de monitoring lourde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0972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3657600"/>
            <a:ext cx="5349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349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21031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Cycle d'une requête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84831"/>
            <a:ext cx="1554480" cy="512064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084831"/>
            <a:ext cx="1965960" cy="512064"/>
          </a:xfrm>
          <a:prstGeom prst="round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requestLogger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084831"/>
            <a:ext cx="1965960" cy="512064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route/controller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2084831"/>
            <a:ext cx="1783080" cy="512064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errorHandler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2084831"/>
            <a:ext cx="1554480" cy="512064"/>
          </a:xfrm>
          <a:prstGeom prst="roundRect">
            <a:avLst/>
          </a:prstGeom>
          <a:solidFill>
            <a:srgbClr val="991B1B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68880" y="2340864"/>
            <a:ext cx="3200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54880" y="2340864"/>
            <a:ext cx="3200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40880" y="2340864"/>
            <a:ext cx="3200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0" y="2340864"/>
            <a:ext cx="3200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2788920"/>
            <a:ext cx="101498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Champs tracés: requestId, method, url, statusCode, durationMs, responseBytes, userId, ip, user-agent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13632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Healthcheck retourné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24528"/>
            <a:ext cx="466344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ok / status</a:t>
            </a:r>
          </a:p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service</a:t>
            </a:r>
          </a:p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environment</a:t>
            </a:r>
          </a:p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timestamp</a:t>
            </a:r>
          </a:p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checks.app.status</a:t>
            </a:r>
          </a:p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checks.db.status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13632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Pourquoi c'est utile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24528"/>
            <a:ext cx="457200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Réutilisable dans Docker, CI, curl et prod.</a:t>
            </a:r>
          </a:p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Accélère le diagnostic des erreurs et lenteurs.</a:t>
            </a:r>
          </a:p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Donne un état public utile sans exposer d'information sensible.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Lot prêt: sécurité HTTP minimale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Branche prête à merger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737360"/>
          <a:ext cx="4663440" cy="1645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3703320"/>
            <a:ext cx="466344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helmet compatible mobile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allowlist CORS par environnement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taille max JSON / urlencoded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rate limit auth + reset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messages d'erreur génériques masqués en 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Statut et intérêt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480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tos"/>
              </a:rPr>
              <a:t>Cette story n'est pas encore mergée sur main,
mais le lot est prêt sur la branche dédiée.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52628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Réduit l'exposition aux abus sur login/register/reset.</a:t>
            </a:r>
          </a:p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Améliore la posture prod sans casser le frontend mobile.</a:t>
            </a:r>
          </a:p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Complète naturellement les stories env.ts + observabilité + CI.</a:t>
            </a:r>
          </a:p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Tests dédiés déjà écrits pour sécuriser le merge.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983480"/>
            <a:ext cx="914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Aptos"/>
              </a:rPr>
              <a:t>Branche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5221224"/>
            <a:ext cx="3840480" cy="41148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5303520"/>
            <a:ext cx="356616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1">
                <a:solidFill>
                  <a:srgbClr val="1D4ED8"/>
                </a:solidFill>
                <a:latin typeface="Aptos"/>
              </a:rPr>
              <a:t>feat/backend-http-security-hardening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Frontend mobile: environnements et runtime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Fin du fallback implicite et correction NativeScript runtime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0972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3566160"/>
            <a:ext cx="54406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3566160"/>
            <a:ext cx="53035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920240"/>
            <a:ext cx="1828800" cy="530352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.env.local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920240"/>
            <a:ext cx="2011680" cy="530352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.env.shared-vps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920240"/>
            <a:ext cx="1737360" cy="530352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.env.prod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920240"/>
            <a:ext cx="1965960" cy="530352"/>
          </a:xfrm>
          <a:prstGeom prst="round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run-with-env.js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920240"/>
            <a:ext cx="1645920" cy="530352"/>
          </a:xfrm>
          <a:prstGeom prst="roundRect">
            <a:avLst/>
          </a:prstGeom>
          <a:solidFill>
            <a:srgbClr val="991B1B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api.ts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80" y="2185416"/>
            <a:ext cx="2743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83480" y="2185416"/>
            <a:ext cx="2743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95160" y="2185416"/>
            <a:ext cx="3200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81160" y="2185416"/>
            <a:ext cx="3200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2743200"/>
            <a:ext cx="10149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Complément du lot: injection build-time de NS_API_BASE_URL dans le bundle NativeScript pour fiabiliser Android.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68680" y="3931920"/>
          <a:ext cx="4663440" cy="1417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92240" y="3886200"/>
            <a:ext cx="452628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Plus de fallback IP caché vers le VPS.</a:t>
            </a:r>
          </a:p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npm run android / ios sont bloqués sans contexte explicite.</a:t>
            </a:r>
          </a:p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Correction runtime NativeScript poussée sur branche dédiée.</a:t>
            </a:r>
          </a:p>
          <a:p>
            <a:pPr>
              <a:buClr/>
              <a:spcAft>
                <a:spcPts val="400"/>
              </a:spcAft>
              <a:defRPr sz="133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L'équipe choisit consciemment sa cible API.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Cas concret: incident VPS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Le sprint a été utile en situation réelle de recette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0972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1783080" cy="1143000"/>
          </a:xfrm>
          <a:prstGeom prst="roundRect">
            <a:avLst/>
          </a:prstGeom>
          <a:solidFill>
            <a:srgbClr val="FFEDD5"/>
          </a:solidFill>
          <a:ln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39" y="2340864"/>
            <a:ext cx="1508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B45309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1600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1E293B"/>
                </a:solidFill>
                <a:latin typeface="Aptos"/>
              </a:rPr>
              <a:t>backend unhealthy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724912"/>
            <a:ext cx="2286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148840"/>
            <a:ext cx="1783080" cy="114300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340864"/>
            <a:ext cx="1508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D4ED8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697480"/>
            <a:ext cx="1600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1E293B"/>
                </a:solidFill>
                <a:latin typeface="Aptos"/>
              </a:rPr>
              <a:t>logs backend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0" y="2724912"/>
            <a:ext cx="2286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74920" y="2148840"/>
            <a:ext cx="1783080" cy="114300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340864"/>
            <a:ext cx="1508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5803D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697480"/>
            <a:ext cx="1600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1E293B"/>
                </a:solidFill>
                <a:latin typeface="Aptos"/>
              </a:rPr>
              <a:t>Prisma OK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0" y="2724912"/>
            <a:ext cx="2286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78040" y="2148840"/>
            <a:ext cx="1783080" cy="1143000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2340864"/>
            <a:ext cx="1508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DC2626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2697480"/>
            <a:ext cx="1600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1E293B"/>
                </a:solidFill>
                <a:latin typeface="Aptos"/>
              </a:rPr>
              <a:t>JWT_SECRET missing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61119" y="2724912"/>
            <a:ext cx="228601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81159" y="2148840"/>
            <a:ext cx="1783080" cy="114300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2340864"/>
            <a:ext cx="1508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2697480"/>
            <a:ext cx="1600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1E293B"/>
                </a:solidFill>
                <a:latin typeface="Aptos"/>
              </a:rPr>
              <a:t>cause isolée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69080"/>
            <a:ext cx="100584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preflight Prisma a confirmé que la base était saine.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validateRuntimeEnv() a immédiatement signalé la vraie panne: JWT_SECRET absent.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Conclusion: les garde-fous ajoutés ne sont pas théoriques, ils ont servi pendant la recette VPS.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68680"/>
            <a:ext cx="10835640" cy="534924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143000"/>
            <a:ext cx="45720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Conclusion visuelle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0"/>
            <a:ext cx="95097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Le sprint 8 a surtout professionnalisé la plateforme.
La démonstration ne repose pas seulement sur une feature, mais sur une chaîne complète plus fiable.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743200"/>
            <a:ext cx="4800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80760" y="2743200"/>
            <a:ext cx="46177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2944368"/>
            <a:ext cx="4023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Ce qu'on peut montrer au jury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3273552"/>
            <a:ext cx="406908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des statistiques claires</a:t>
            </a:r>
          </a:p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une architecture plus propre</a:t>
            </a:r>
          </a:p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des tests utiles et verts</a:t>
            </a:r>
          </a:p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des incidents de prod mieux diagnostiqués</a:t>
            </a:r>
          </a:p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un mobile qui cible explicitement son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944368"/>
            <a:ext cx="374903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Actions suivantes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3273552"/>
            <a:ext cx="384048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merger les lots story 09 et 10</a:t>
            </a:r>
          </a:p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finaliser backend/.env.prod sur VPS</a:t>
            </a:r>
          </a:p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ouvrir l'URL Nginx finale au frontend mobile</a:t>
            </a:r>
          </a:p>
          <a:p>
            <a:pPr>
              <a:buClr/>
              <a:spcAft>
                <a:spcPts val="400"/>
              </a:spcAft>
              <a:defRPr sz="132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garder ce niveau de garde-fous sur les prochains sprints</a:t>
            </a:r>
          </a:p>
        </p:txBody>
      </p:sp>
      <p:pic>
        <p:nvPicPr>
          <p:cNvPr id="11" name="Picture 10" descr="Logo-centr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87552"/>
            <a:ext cx="792005" cy="7498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